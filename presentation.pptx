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70" r:id="rId10"/>
    <p:sldId id="263" r:id="rId11"/>
    <p:sldId id="265" r:id="rId12"/>
    <p:sldId id="264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Angsana New" panose="02020603050405020304" pitchFamily="18" charset="-34"/>
      <p:regular r:id="rId18"/>
      <p:bold r:id="rId19"/>
      <p:italic r:id="rId20"/>
      <p:boldItalic r:id="rId21"/>
    </p:embeddedFont>
    <p:embeddedFont>
      <p:font typeface="AngsanaUPC" panose="02020603050405020304" pitchFamily="18" charset="-34"/>
      <p:regular r:id="rId22"/>
      <p:bold r:id="rId23"/>
      <p:italic r:id="rId24"/>
      <p:boldItalic r:id="rId25"/>
    </p:embeddedFont>
    <p:embeddedFont>
      <p:font typeface="TH Sarabun New" panose="020B0604020202020204" charset="-34"/>
      <p:regular r:id="rId26"/>
      <p:bold r:id="rId27"/>
      <p:italic r:id="rId28"/>
      <p:boldItalic r:id="rId29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7EFF8-E3C2-4F52-AAB8-A6F825461DB0}" type="datetimeFigureOut">
              <a:rPr lang="th-TH" smtClean="0"/>
              <a:t>05/09/69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1CD72-FC56-4F42-87F0-80B707CF88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9946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DFCC5-75C4-7977-9F2F-3A529FDAE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65C16-0BCB-517D-7EA9-24ACB8835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02969-6C9C-BABC-67E1-27041DC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095A5-0C9E-4C68-85C4-5ED19473039C}" type="datetime1">
              <a:rPr lang="th-TH" smtClean="0"/>
              <a:t>05/09/69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B8794-E2D5-EA9D-0E54-B3E9954E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5340-66BD-948F-84A1-C66BF26B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650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89AC6-D572-5B13-D782-AD50897F1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843F8-D3BA-8328-F877-C6DC66A5A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 sz="32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 sz="28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 sz="24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 sz="24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70BB9-D36B-691D-06DB-43FE910B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C7AC-61C3-4567-B5CF-DDF8B98CC2E9}" type="datetime1">
              <a:rPr lang="th-TH" smtClean="0"/>
              <a:t>05/09/69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5C757-19C0-8873-F579-CED4C979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 dirty="0"/>
              <a:t>Upskill 2569, Module 2: Data Engineering </a:t>
            </a:r>
            <a:endParaRPr lang="th-TH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27D91-678B-97F8-CA77-E3352DF2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43BD6CBF-6DB6-4955-8C17-A3B30D694B09}" type="slidenum">
              <a:rPr lang="th-TH" smtClean="0"/>
              <a:pPr/>
              <a:t>‹#›</a:t>
            </a:fld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1AAE9B-1E4E-71BF-0A55-7941B6F71BEE}"/>
              </a:ext>
            </a:extLst>
          </p:cNvPr>
          <p:cNvGrpSpPr/>
          <p:nvPr userDrawn="1"/>
        </p:nvGrpSpPr>
        <p:grpSpPr>
          <a:xfrm>
            <a:off x="9680713" y="230188"/>
            <a:ext cx="2254196" cy="594025"/>
            <a:chOff x="8282392" y="185737"/>
            <a:chExt cx="2642701" cy="69055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255C2B7-2E89-936D-60A1-3676ABB3B52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69111" y="220314"/>
              <a:ext cx="655982" cy="65598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D6881E1-D5CA-6EF1-4223-B1A2598363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2392" y="213552"/>
              <a:ext cx="1449200" cy="56527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01BBA9B-F084-1DBE-7410-053B72B098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38793" y="185737"/>
              <a:ext cx="690560" cy="682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933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C629-4113-518E-2E03-1555FA69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20212-78BC-EB9B-0E61-B1622CE70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AF6C4-1AA3-8723-B5D5-684D733A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A679-ED64-4F09-BCA7-539F9A016C11}" type="datetime1">
              <a:rPr lang="th-TH" smtClean="0"/>
              <a:t>05/09/69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8A9BA-A9EC-24A7-5EB9-E4DA9A335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85473-75D1-9908-2D8F-4F7659A4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3009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75C8-F2A1-5D79-CE2A-2C1D1639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FDCEF-4D36-6F68-924B-78D0CE3F6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5F84C-2F11-CA0A-35FB-63273F604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F8B85-FED0-931B-753E-597801A2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0B07-F15A-444D-A27A-6615DA1AF77D}" type="datetime1">
              <a:rPr lang="th-TH" smtClean="0"/>
              <a:t>05/09/69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D8A15-4F5B-2438-4014-6FA138A1A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4DF4F-BE3B-5353-DE75-AFC29D6B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329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6424-FF2C-B7AC-6731-24CDC6DB4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72489-CC2A-589E-4C0F-852E00AE2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8DF94-DA85-AA3B-2C18-253CC8B77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51DA6-C672-C6E2-29CD-EB1F9BA04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CF0B8-421B-69BD-4FEB-D4DAF6CA5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7E890D-EFF8-A754-FA6A-F66425786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95A2-4D6B-48FB-A508-35FA7BBF142E}" type="datetime1">
              <a:rPr lang="th-TH" smtClean="0"/>
              <a:t>05/09/69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8D655B-B39E-4465-B0C9-2ED377C55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E97C7-8DB1-C686-9957-E13A8B47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38145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D519-BAC6-C133-E082-78FF79A3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29F4B-560A-053F-F1C5-B9EF9439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D92A-7C56-4512-97FB-DB37A8E48EE3}" type="datetime1">
              <a:rPr lang="th-TH" smtClean="0"/>
              <a:t>05/09/69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47597-DFAC-9ADB-2A1A-4CC94977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4CBCB-8DE6-8B4F-3F75-E26F098C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7237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85468-A611-8525-F8FA-742DED70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3195-5789-4430-BE9B-47CBBC6DAC6E}" type="datetime1">
              <a:rPr lang="th-TH" smtClean="0"/>
              <a:t>05/09/69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1CF7E-A358-9579-445D-6C660D556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1FB2C-CBD2-3923-92D6-1BE579E2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9529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4AC5-1909-506F-7FB0-0A1B58935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EBE0B-8C93-32F8-F2E6-7476014BF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E4A6F-8C8E-EF9A-5828-FCE0EF9A4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AF073-FBC5-B0DB-09CA-04E01B15D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CC7A-081E-4B9A-B725-4B131F7BAA1E}" type="datetime1">
              <a:rPr lang="th-TH" smtClean="0"/>
              <a:t>05/09/69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1FF32-8626-3582-0E55-1D29E9A97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4651F-2A44-C482-ABA5-7500C6B0A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943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FA47-9DEC-8CA2-C566-2F98065C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7358EA-82AA-9600-101D-015BEBA40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9563A-714C-9EC0-7728-03D47769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DCC88-843A-C012-5F47-BA1DD385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6B49B-271F-4D25-9B21-278365E709D1}" type="datetime1">
              <a:rPr lang="th-TH" smtClean="0"/>
              <a:t>05/09/69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83D3E-8924-0F61-8F4F-1298A696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5D323-3719-8A84-3A11-F28F9A9E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49677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C4D5-736B-680C-5135-B4D60FF1F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985D6-4F10-7616-4EBD-E383E7A63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63D6D-53E3-3108-816A-9A66BC27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BE1B-3914-46B5-9C8F-1092D0D71078}" type="datetime1">
              <a:rPr lang="th-TH" smtClean="0"/>
              <a:t>05/09/69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D5B7-0C0F-7DB6-CDDF-FDD865B5B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9F7C0-A722-9BB8-578B-1695D39E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47023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0E737-90B6-5655-D82A-173779E64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7E9AB-2957-7E73-76B1-F2EBECB4B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12E3B-7A09-56C7-D63D-D8BDFECE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C469D-78AE-4707-9F40-8B57DB678CD7}" type="datetime1">
              <a:rPr lang="th-TH" smtClean="0"/>
              <a:t>05/09/69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E3117-7503-73E8-541C-90A549984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EB08B-058E-3253-3404-A9FBF82B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961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2F20A8-20CA-080E-10D4-C0C6EFAE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D1B6-513E-14EB-D273-77C6EC4CA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D292D-68CB-9FEE-F3C3-1E216FA87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B99F1-ACFC-4604-B0C7-27A4F4DA14D8}" type="datetime1">
              <a:rPr lang="th-TH" smtClean="0"/>
              <a:t>05/09/69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19A6D-2989-1AA3-5B2D-30EE102C7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62E63-AC2A-F5ED-8846-F5ECFC7FD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D6CBF-6DB6-4955-8C17-A3B30D694B0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4891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drive.google.com/file/d/1RD9qQwuVFNNA6Rjdq7_i_x3PmPQ96Gxb/preview" TargetMode="Externa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5B514-CEDC-E70C-860C-10D281215F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2A8C6-876C-D6A0-9EC6-7D16EE4C9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th-TH" sz="4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การจัดการข้อมูล </a:t>
            </a:r>
            <a:r>
              <a:rPr lang="en-US" sz="4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World Bank Commodity Prices</a:t>
            </a:r>
            <a:r>
              <a:rPr lang="th-TH" sz="4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</a:t>
            </a:r>
            <a:r>
              <a:rPr lang="en-US" sz="4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 </a:t>
            </a:r>
            <a:r>
              <a:rPr lang="th-TH" sz="4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ติดตามความเคลื่อนไหวของราคาสินค้าโภคภั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ณฑ์</a:t>
            </a:r>
            <a:endParaRPr lang="th-TH" sz="4800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672D2-9F33-22D2-9220-BD1DDA9AF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680564"/>
          </a:xfrm>
        </p:spPr>
        <p:txBody>
          <a:bodyPr>
            <a:normAutofit/>
          </a:bodyPr>
          <a:lstStyle/>
          <a:p>
            <a:r>
              <a:rPr lang="th-TH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ผู้นำเสนอ</a:t>
            </a:r>
            <a:r>
              <a:rPr lang="en-US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กิติ</a:t>
            </a:r>
            <a:r>
              <a:rPr lang="th-TH" sz="1800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ศั</a:t>
            </a:r>
            <a:r>
              <a:rPr lang="th-TH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กดิ์ จันทร์ส่งแสง</a:t>
            </a:r>
          </a:p>
          <a:p>
            <a:r>
              <a:rPr lang="th-TH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รหัสผู้นำเสนอ </a:t>
            </a:r>
            <a:r>
              <a:rPr lang="en-US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E10</a:t>
            </a:r>
          </a:p>
          <a:p>
            <a:r>
              <a:rPr lang="th-TH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หน่วยงาน</a:t>
            </a:r>
            <a:r>
              <a:rPr lang="en-US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CP Intertrade co., Ltd.</a:t>
            </a:r>
            <a:endParaRPr lang="th-TH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69134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3F6F4-E4AA-649B-9AE1-C384781BA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32FFF-50AE-E044-625B-62AB61BA2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ติดตามความเคลื่อนไหวของราคาสินค้าโภค</a:t>
            </a:r>
            <a:r>
              <a:rPr lang="th-TH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ภั</a:t>
            </a:r>
            <a:r>
              <a:rPr lang="th-TH" sz="2400" b="0" dirty="0">
                <a:latin typeface="Angsana New" panose="02020603050405020304" pitchFamily="18" charset="-34"/>
                <a:cs typeface="Angsana New" panose="02020603050405020304" pitchFamily="18" charset="-34"/>
              </a:rPr>
              <a:t>ณฑ์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โลก</a:t>
            </a:r>
            <a:endParaRPr lang="th-TH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Data Cleansing</a:t>
            </a:r>
            <a:r>
              <a:rPr lang="th-TH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: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raw data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อยู่ในลักษณะ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report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แบบ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wide table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มีหัวตารางหลายชั้นและมีอักขระพิเศษที่ต้องเอาออก</a:t>
            </a:r>
            <a:endParaRPr 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Database Management</a:t>
            </a:r>
            <a:r>
              <a:rPr lang="th-TH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: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ข้อมูลราคาสินค้าโภคภัณฑ์เป็นข้อมูล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Time-Series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แบบตารางที่มี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Schema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ชัดเจน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จึงเลือกใช้เป็น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MariaDB (MySQL)</a:t>
            </a:r>
            <a:endParaRPr 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ETL Flow and Agentic AI :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ใช้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Airflow + LINE Messaging API</a:t>
            </a:r>
            <a:endParaRPr 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สรุปผลการดำเนินงาน</a:t>
            </a:r>
            <a:endParaRPr 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th-TH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B0ECE-F957-B538-8ACC-44F09D5E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E2DF0-2482-4C94-6374-E1EF101A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6790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A26EE-ED14-EAFA-9479-2D148E134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3389-9A69-361A-1EC9-F100959F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ความสำคัญและที่มาของโครงงาน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33987-723E-6C0E-EB09-CC87B038D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50943"/>
          </a:xfrm>
        </p:spPr>
        <p:txBody>
          <a:bodyPr>
            <a:normAutofit fontScale="92500" lnSpcReduction="10000"/>
          </a:bodyPr>
          <a:lstStyle/>
          <a:p>
            <a:r>
              <a:rPr lang="th-TH" b="1" dirty="0">
                <a:cs typeface="+mj-cs"/>
              </a:rPr>
              <a:t>ข้อมูลที่ใช้</a:t>
            </a:r>
            <a:r>
              <a:rPr lang="en-US" b="1" dirty="0">
                <a:cs typeface="+mj-cs"/>
              </a:rPr>
              <a:t>: </a:t>
            </a:r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Commodity Market : Monthly Prices World Bank</a:t>
            </a:r>
          </a:p>
          <a:p>
            <a:endParaRPr lang="en-US" dirty="0">
              <a:highlight>
                <a:srgbClr val="00FFFF"/>
              </a:highlight>
              <a:cs typeface="+mj-cs"/>
            </a:endParaRPr>
          </a:p>
          <a:p>
            <a:r>
              <a:rPr lang="th-TH" dirty="0">
                <a:cs typeface="+mj-cs"/>
              </a:rPr>
              <a:t>ขนาดของข้อมูล </a:t>
            </a:r>
            <a:r>
              <a:rPr lang="en-US" dirty="0">
                <a:cs typeface="+mj-cs"/>
              </a:rPr>
              <a:t>: 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56,800 rows </a:t>
            </a:r>
          </a:p>
          <a:p>
            <a:pPr lvl="1"/>
            <a:endParaRPr lang="en-US" b="1" dirty="0">
              <a:highlight>
                <a:srgbClr val="00FFFF"/>
              </a:highlight>
              <a:cs typeface="+mj-cs"/>
            </a:endParaRPr>
          </a:p>
          <a:p>
            <a:r>
              <a:rPr lang="th-TH" b="1" dirty="0">
                <a:cs typeface="+mj-cs"/>
              </a:rPr>
              <a:t>แหล่งที่มาของข้อมูล</a:t>
            </a:r>
            <a:r>
              <a:rPr lang="en-US" b="1" dirty="0">
                <a:cs typeface="+mj-cs"/>
              </a:rPr>
              <a:t>:</a:t>
            </a:r>
            <a:r>
              <a:rPr lang="th-TH" b="1" dirty="0">
                <a:cs typeface="+mj-cs"/>
              </a:rPr>
              <a:t> </a:t>
            </a:r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World Bank</a:t>
            </a:r>
          </a:p>
          <a:p>
            <a:endParaRPr lang="en-US" b="1" dirty="0">
              <a:highlight>
                <a:srgbClr val="00FFFF"/>
              </a:highlight>
              <a:cs typeface="+mj-cs"/>
            </a:endParaRPr>
          </a:p>
          <a:p>
            <a:r>
              <a:rPr lang="th-TH" b="1" dirty="0">
                <a:cs typeface="+mj-cs"/>
              </a:rPr>
              <a:t>วัตถุประสงค์</a:t>
            </a:r>
            <a:r>
              <a:rPr lang="en-US" b="1" dirty="0">
                <a:cs typeface="+mj-cs"/>
              </a:rPr>
              <a:t> </a:t>
            </a:r>
            <a:r>
              <a:rPr lang="en-US" dirty="0">
                <a:cs typeface="+mj-cs"/>
              </a:rPr>
              <a:t>: </a:t>
            </a:r>
            <a:r>
              <a:rPr lang="th-TH" b="1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เพื่อ</a:t>
            </a:r>
            <a:r>
              <a:rPr lang="th-TH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ติดตามความเคลื่อนไหวสถานการณ์ราคาสินค้าโภคภัณฑ์โลก</a:t>
            </a:r>
            <a:endParaRPr lang="th-TH" b="1" dirty="0">
              <a:solidFill>
                <a:schemeClr val="bg1"/>
              </a:solidFill>
              <a:highlight>
                <a:srgbClr val="000000"/>
              </a:highlight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64325-D108-5E82-AA83-DD5EB580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D1DC0-7D70-93A9-BC35-191DA5DD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8063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B033-E808-C467-7495-E3647F61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A93F901-5E11-BB8B-64F8-7883F58A7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" y="1448461"/>
            <a:ext cx="12192000" cy="1799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406523-72EC-23A0-40C4-EBC7EF47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ภาพรวมของโครงงาน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A41EF-1727-8ED3-8114-450D0108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Upskill 2569, Module 2: Data Engineering </a:t>
            </a:r>
            <a:endParaRPr lang="th-TH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BC213C-0FBF-4BBA-89F9-75CE72FBEC51}"/>
              </a:ext>
            </a:extLst>
          </p:cNvPr>
          <p:cNvSpPr txBox="1"/>
          <p:nvPr/>
        </p:nvSpPr>
        <p:spPr>
          <a:xfrm>
            <a:off x="386080" y="3384332"/>
            <a:ext cx="114198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1.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Extract :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ใช้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web scraping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เพื่อดาวน์โหลดไฟล์ข้อมูลจาก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World Bank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ด้วย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library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BeautifulSoup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2.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Cleansing &amp; Transform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ข้อมูลในรูปแบบ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wide table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ให้อยู่ในรูปแบบ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long table,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จัดการอักขระพิเศษที่ไม่จำเป็นและฟอร์แมทวันที่ให้ถูกต้อง</a:t>
            </a:r>
          </a:p>
          <a:p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3.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Load :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 แยกข้อมูลเป็น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fact table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dimension table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ก่อนนำเข้า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MySQL (MariaDB)</a:t>
            </a:r>
          </a:p>
          <a:p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4. Notification :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สร้างระบบแจ้งเตือนด้วย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n8n + LINE Massaging API</a:t>
            </a:r>
          </a:p>
          <a:p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5. Airflow :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สร้างระบบ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Orchestration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Monitoring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เพื่อควบคุมกระบวนการต่างๆด้วย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Airflow</a:t>
            </a: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1DCCCC-1A90-80B4-0C68-A39A25974584}"/>
              </a:ext>
            </a:extLst>
          </p:cNvPr>
          <p:cNvSpPr/>
          <p:nvPr/>
        </p:nvSpPr>
        <p:spPr>
          <a:xfrm>
            <a:off x="0" y="1071878"/>
            <a:ext cx="182880" cy="2219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546CAA-4054-2228-3F55-A3FAE10038F6}"/>
              </a:ext>
            </a:extLst>
          </p:cNvPr>
          <p:cNvSpPr/>
          <p:nvPr/>
        </p:nvSpPr>
        <p:spPr>
          <a:xfrm>
            <a:off x="12019280" y="1027906"/>
            <a:ext cx="182880" cy="2219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23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A6DF7-1833-062F-B60C-16371224E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75A7-26B1-6DA0-1294-637E4A260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835"/>
          </a:xfrm>
        </p:spPr>
        <p:txBody>
          <a:bodyPr/>
          <a:lstStyle/>
          <a:p>
            <a:r>
              <a:rPr lang="en-US" dirty="0"/>
              <a:t>1.1 Data Cleansing [1] raw data</a:t>
            </a: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50CFF-7C1E-201A-5A5F-0296BC892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534467"/>
            <a:ext cx="4114800" cy="365125"/>
          </a:xfrm>
        </p:spPr>
        <p:txBody>
          <a:bodyPr/>
          <a:lstStyle/>
          <a:p>
            <a:r>
              <a:rPr lang="en-US" dirty="0"/>
              <a:t>Upskill 2569, Module 2: Data Engineering </a:t>
            </a:r>
            <a:endParaRPr lang="th-T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A5F18-7A0D-1CB6-B82D-5A72FF71D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5</a:t>
            </a:fld>
            <a:endParaRPr lang="th-T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2CA3F-8680-B875-A350-0D294769AD11}"/>
              </a:ext>
            </a:extLst>
          </p:cNvPr>
          <p:cNvSpPr txBox="1"/>
          <p:nvPr/>
        </p:nvSpPr>
        <p:spPr>
          <a:xfrm>
            <a:off x="614680" y="5770701"/>
            <a:ext cx="11064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Raw data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อยู่ในรูปแบบตาราง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wide format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แบบ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report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ที่มีหัวตารางซ้อนกันหลายชั้น และวันที่ผิด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format</a:t>
            </a:r>
          </a:p>
          <a:p>
            <a:pPr marL="457200" indent="-457200">
              <a:buAutoNum type="arabicPeriod"/>
            </a:pP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มี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Missing Values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ในส่วนที่เป็น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values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โดยใช้สัญลักษณ์เป็น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...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และหัวตารางมีอักขระพิเศษที่ไม่จำเป็น เช่น ดอกจันและวงเล็บ</a:t>
            </a:r>
            <a:endParaRPr lang="en-US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3C228D-180D-7695-A2DD-8FC43E1C2DA4}"/>
              </a:ext>
            </a:extLst>
          </p:cNvPr>
          <p:cNvGrpSpPr/>
          <p:nvPr/>
        </p:nvGrpSpPr>
        <p:grpSpPr>
          <a:xfrm>
            <a:off x="121920" y="609600"/>
            <a:ext cx="11356600" cy="5298460"/>
            <a:chOff x="121920" y="609600"/>
            <a:chExt cx="11356600" cy="529846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3ABF269-AF74-296B-1F47-10CE9B9AD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759" y="949940"/>
              <a:ext cx="11191761" cy="476004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44E7242-1B14-2E66-EAED-1C94816928E5}"/>
                </a:ext>
              </a:extLst>
            </p:cNvPr>
            <p:cNvSpPr/>
            <p:nvPr/>
          </p:nvSpPr>
          <p:spPr>
            <a:xfrm>
              <a:off x="121920" y="609600"/>
              <a:ext cx="406400" cy="52984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F60A81A-E9B7-4D7B-E351-0CDC1E443F20}"/>
              </a:ext>
            </a:extLst>
          </p:cNvPr>
          <p:cNvSpPr/>
          <p:nvPr/>
        </p:nvSpPr>
        <p:spPr>
          <a:xfrm>
            <a:off x="604520" y="3037841"/>
            <a:ext cx="645160" cy="161544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81DFAE-290B-DC9F-3DFF-62666CD4D931}"/>
              </a:ext>
            </a:extLst>
          </p:cNvPr>
          <p:cNvSpPr/>
          <p:nvPr/>
        </p:nvSpPr>
        <p:spPr>
          <a:xfrm>
            <a:off x="4495800" y="3545840"/>
            <a:ext cx="645160" cy="215386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54BDDD-3541-48B1-C18A-BACE7CF3592D}"/>
              </a:ext>
            </a:extLst>
          </p:cNvPr>
          <p:cNvSpPr/>
          <p:nvPr/>
        </p:nvSpPr>
        <p:spPr>
          <a:xfrm>
            <a:off x="1127760" y="2504479"/>
            <a:ext cx="10330440" cy="16760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9E057-D99C-C62B-254D-2B1DF8C7D40E}"/>
              </a:ext>
            </a:extLst>
          </p:cNvPr>
          <p:cNvSpPr/>
          <p:nvPr/>
        </p:nvSpPr>
        <p:spPr>
          <a:xfrm>
            <a:off x="1127760" y="2021783"/>
            <a:ext cx="10330440" cy="457200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14CF92-5A3A-9CF0-D934-6DE3CB608B9A}"/>
              </a:ext>
            </a:extLst>
          </p:cNvPr>
          <p:cNvSpPr/>
          <p:nvPr/>
        </p:nvSpPr>
        <p:spPr>
          <a:xfrm>
            <a:off x="5596943" y="4087380"/>
            <a:ext cx="1856097" cy="6277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Missing values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5EBD05-778F-0A5D-E8E8-2E56EC3D8C02}"/>
              </a:ext>
            </a:extLst>
          </p:cNvPr>
          <p:cNvSpPr/>
          <p:nvPr/>
        </p:nvSpPr>
        <p:spPr>
          <a:xfrm>
            <a:off x="1673443" y="3457801"/>
            <a:ext cx="1856097" cy="6277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Non-Date Type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7D42A2-61F0-0C7C-8AB7-FE210BB11BE5}"/>
              </a:ext>
            </a:extLst>
          </p:cNvPr>
          <p:cNvSpPr/>
          <p:nvPr/>
        </p:nvSpPr>
        <p:spPr>
          <a:xfrm>
            <a:off x="9219063" y="1317604"/>
            <a:ext cx="2239137" cy="6277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 </a:t>
            </a:r>
            <a:r>
              <a:rPr lang="en-US" sz="2000" b="1" dirty="0"/>
              <a:t>Multi-row header</a:t>
            </a:r>
            <a:endParaRPr lang="en-US" sz="1600" dirty="0"/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3C89D297-5B27-E242-2A7B-93289CEFC7C4}"/>
              </a:ext>
            </a:extLst>
          </p:cNvPr>
          <p:cNvSpPr/>
          <p:nvPr/>
        </p:nvSpPr>
        <p:spPr>
          <a:xfrm>
            <a:off x="5220269" y="4244454"/>
            <a:ext cx="300250" cy="327546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7915CCC0-3A20-F3E4-9E9A-9E9B5E98E52E}"/>
              </a:ext>
            </a:extLst>
          </p:cNvPr>
          <p:cNvSpPr/>
          <p:nvPr/>
        </p:nvSpPr>
        <p:spPr>
          <a:xfrm>
            <a:off x="1325880" y="3626422"/>
            <a:ext cx="300250" cy="327546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Left 36">
            <a:extLst>
              <a:ext uri="{FF2B5EF4-FFF2-40B4-BE49-F238E27FC236}">
                <a16:creationId xmlns:a16="http://schemas.microsoft.com/office/drawing/2014/main" id="{CBBB4AE3-649C-42F1-C8E1-F2D8EF89A78B}"/>
              </a:ext>
            </a:extLst>
          </p:cNvPr>
          <p:cNvSpPr/>
          <p:nvPr/>
        </p:nvSpPr>
        <p:spPr>
          <a:xfrm rot="18735304">
            <a:off x="8918280" y="1930575"/>
            <a:ext cx="300250" cy="327546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8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2D7D4-2E42-F8ED-4B77-E6D9BC38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95F4D8B0-B88C-7A2E-7184-8162410F1459}"/>
              </a:ext>
            </a:extLst>
          </p:cNvPr>
          <p:cNvSpPr/>
          <p:nvPr/>
        </p:nvSpPr>
        <p:spPr>
          <a:xfrm>
            <a:off x="58992" y="3632896"/>
            <a:ext cx="12070080" cy="3222350"/>
          </a:xfrm>
          <a:prstGeom prst="rect">
            <a:avLst/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FA8E6-0EAB-A0E5-3783-FAB32CA26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65245"/>
            <a:ext cx="10515600" cy="711835"/>
          </a:xfrm>
        </p:spPr>
        <p:txBody>
          <a:bodyPr/>
          <a:lstStyle/>
          <a:p>
            <a:r>
              <a:rPr lang="en-US" dirty="0"/>
              <a:t>1.1 Data Cleansing [</a:t>
            </a:r>
            <a:r>
              <a:rPr lang="th-TH" dirty="0"/>
              <a:t>2</a:t>
            </a:r>
            <a:r>
              <a:rPr lang="en-US" dirty="0"/>
              <a:t>]</a:t>
            </a: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8737A-019B-7E3F-03AA-02028D80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7915" y="837798"/>
            <a:ext cx="4114800" cy="365125"/>
          </a:xfrm>
        </p:spPr>
        <p:txBody>
          <a:bodyPr/>
          <a:lstStyle/>
          <a:p>
            <a:r>
              <a:rPr lang="en-US" dirty="0"/>
              <a:t>Upskill 2569, Module 2: Data Engineering </a:t>
            </a:r>
            <a:endParaRPr lang="th-T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85435E-6979-0247-CF59-C19F52EF4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7" y="646255"/>
            <a:ext cx="5099313" cy="8317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F40D21-236F-B46F-12D0-B93C6B131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40" y="1499584"/>
            <a:ext cx="11853329" cy="205966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1CD9EB4-6050-7C9F-27FB-77C1515A078D}"/>
              </a:ext>
            </a:extLst>
          </p:cNvPr>
          <p:cNvSpPr/>
          <p:nvPr/>
        </p:nvSpPr>
        <p:spPr>
          <a:xfrm>
            <a:off x="347134" y="2575781"/>
            <a:ext cx="11633199" cy="9398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0781C6-CBC0-D3E6-3816-11C1C9C41C31}"/>
              </a:ext>
            </a:extLst>
          </p:cNvPr>
          <p:cNvSpPr/>
          <p:nvPr/>
        </p:nvSpPr>
        <p:spPr>
          <a:xfrm>
            <a:off x="347134" y="1570871"/>
            <a:ext cx="11633199" cy="573073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B9DCB2-6CAF-AB97-5855-5778B34B702F}"/>
              </a:ext>
            </a:extLst>
          </p:cNvPr>
          <p:cNvSpPr/>
          <p:nvPr/>
        </p:nvSpPr>
        <p:spPr>
          <a:xfrm>
            <a:off x="347134" y="2239745"/>
            <a:ext cx="11633199" cy="274320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A254B2-6B68-DC80-55A4-C47D56F01840}"/>
              </a:ext>
            </a:extLst>
          </p:cNvPr>
          <p:cNvSpPr/>
          <p:nvPr/>
        </p:nvSpPr>
        <p:spPr>
          <a:xfrm>
            <a:off x="59266" y="1733000"/>
            <a:ext cx="347134" cy="3640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55F9A5-D319-912C-E631-2858CC5F9C48}"/>
              </a:ext>
            </a:extLst>
          </p:cNvPr>
          <p:cNvSpPr/>
          <p:nvPr/>
        </p:nvSpPr>
        <p:spPr>
          <a:xfrm>
            <a:off x="59266" y="2192868"/>
            <a:ext cx="347134" cy="3640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4C7265-1794-A083-C5C7-26E69FE97EB1}"/>
              </a:ext>
            </a:extLst>
          </p:cNvPr>
          <p:cNvSpPr/>
          <p:nvPr/>
        </p:nvSpPr>
        <p:spPr>
          <a:xfrm>
            <a:off x="59266" y="2863580"/>
            <a:ext cx="347134" cy="3640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3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4EFF72C-8EBD-8EC8-90AD-A03579A6E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40" y="3721385"/>
            <a:ext cx="5464544" cy="145237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7B8CEAE-63B7-4BDE-3DC6-07841E919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340" y="5268913"/>
            <a:ext cx="5464544" cy="156666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995DB34-6F7B-0CB9-9032-25057DA619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1654" y="3721385"/>
            <a:ext cx="6271006" cy="280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03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4604-AE01-6624-B3FB-508E7408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5388-E085-73DE-4FBC-3FD33174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93" y="172935"/>
            <a:ext cx="9237785" cy="657430"/>
          </a:xfrm>
        </p:spPr>
        <p:txBody>
          <a:bodyPr>
            <a:normAutofit fontScale="90000"/>
          </a:bodyPr>
          <a:lstStyle/>
          <a:p>
            <a:r>
              <a:rPr lang="en-US" dirty="0"/>
              <a:t>1.2 Data Integration/Transformation/Visualization</a:t>
            </a: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18CAC-47D1-12CA-DD9A-43DBEC3D7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9928" y="6447761"/>
            <a:ext cx="4114800" cy="365125"/>
          </a:xfrm>
        </p:spPr>
        <p:txBody>
          <a:bodyPr/>
          <a:lstStyle/>
          <a:p>
            <a:r>
              <a:rPr lang="en-US" dirty="0"/>
              <a:t>Upskill 2569, Module 2: Data Engineering </a:t>
            </a:r>
            <a:endParaRPr lang="th-T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09E39-5895-DAF5-3B05-BDE66936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7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A3405-F751-5090-FC42-BA0303A76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06" y="761541"/>
            <a:ext cx="7277782" cy="3485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09B1DE-CE11-C00C-2562-5B9E6922D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7" y="4320378"/>
            <a:ext cx="7277781" cy="24138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097334-28FB-4A4A-5172-66E23EBCE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071" y="944798"/>
            <a:ext cx="3596952" cy="31778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500C6B-21CC-7B3E-E68C-DBBEE9B46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374" y="4181848"/>
            <a:ext cx="4598802" cy="259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02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6861-6127-C564-C37B-F6EF09F4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10A0-E542-4E18-C436-31A010F2B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6823"/>
            <a:ext cx="10515600" cy="1325563"/>
          </a:xfrm>
        </p:spPr>
        <p:txBody>
          <a:bodyPr/>
          <a:lstStyle/>
          <a:p>
            <a:r>
              <a:rPr lang="en-US" dirty="0"/>
              <a:t>2.1 Database Management</a:t>
            </a: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AEE4D-599F-A6F9-83F2-DCDC07DCC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9774" y="6553456"/>
            <a:ext cx="4114800" cy="365125"/>
          </a:xfrm>
        </p:spPr>
        <p:txBody>
          <a:bodyPr/>
          <a:lstStyle/>
          <a:p>
            <a:r>
              <a:rPr lang="en-US" dirty="0"/>
              <a:t>Upskill 2569, Module 2: Data Engineering </a:t>
            </a:r>
            <a:endParaRPr lang="th-T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BE27E-FF49-A0C3-1928-C47CFF674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8</a:t>
            </a:fld>
            <a:endParaRPr lang="th-T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0E48EA-3F0F-3682-336A-2AEE630BD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93" y="831285"/>
            <a:ext cx="4608495" cy="57666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B1CB5A-5D27-4422-EB70-07B0D17D9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833" y="1377752"/>
            <a:ext cx="6370872" cy="52201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5E22C2-9A59-0238-DBC4-FD3C8A40CFBA}"/>
              </a:ext>
            </a:extLst>
          </p:cNvPr>
          <p:cNvSpPr txBox="1"/>
          <p:nvPr/>
        </p:nvSpPr>
        <p:spPr>
          <a:xfrm>
            <a:off x="5346627" y="870153"/>
            <a:ext cx="6417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เลือกใช้ </a:t>
            </a: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MySQL </a:t>
            </a:r>
            <a:r>
              <a:rPr lang="th-TH" sz="2400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เพราะเป็น </a:t>
            </a: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Time-Series </a:t>
            </a:r>
            <a:r>
              <a:rPr lang="th-TH" sz="2400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ที่มี </a:t>
            </a: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Schema </a:t>
            </a:r>
            <a:r>
              <a:rPr lang="th-TH" sz="2400" dirty="0">
                <a:solidFill>
                  <a:schemeClr val="bg1"/>
                </a:solidFill>
                <a:highlight>
                  <a:srgbClr val="000000"/>
                </a:highlight>
                <a:cs typeface="+mj-cs"/>
              </a:rPr>
              <a:t>ชัดเจน</a:t>
            </a:r>
            <a:endParaRPr lang="en-US" sz="2400" dirty="0">
              <a:solidFill>
                <a:schemeClr val="bg1"/>
              </a:solidFill>
              <a:highlight>
                <a:srgbClr val="000000"/>
              </a:highligh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2985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7E96-C093-239F-F262-21555D2B0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CA628-8C6A-F756-DD83-081CDF78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6822"/>
            <a:ext cx="10515600" cy="903236"/>
          </a:xfrm>
        </p:spPr>
        <p:txBody>
          <a:bodyPr/>
          <a:lstStyle/>
          <a:p>
            <a:r>
              <a:rPr lang="en-US" dirty="0"/>
              <a:t>2.2 Database Query</a:t>
            </a: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6A953-5342-0703-FEA8-DBACEF606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9774" y="6553456"/>
            <a:ext cx="4114800" cy="365125"/>
          </a:xfrm>
        </p:spPr>
        <p:txBody>
          <a:bodyPr/>
          <a:lstStyle/>
          <a:p>
            <a:r>
              <a:rPr lang="en-US" dirty="0"/>
              <a:t>Upskill 2569, Module 2: Data Engineering </a:t>
            </a:r>
            <a:endParaRPr lang="th-T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EFB52C-B45E-0623-D798-0BC4D495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016" y="884905"/>
            <a:ext cx="5779254" cy="3938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9A1B28-4495-8331-6E47-C3901CBBD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62" y="884905"/>
            <a:ext cx="6085509" cy="563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44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3079F-B1A8-ECDE-488B-D5F4D3EF2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2171D-5257-2DBA-0581-1144D3CC7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68593"/>
          </a:xfrm>
        </p:spPr>
        <p:txBody>
          <a:bodyPr>
            <a:normAutofit fontScale="90000"/>
          </a:bodyPr>
          <a:lstStyle/>
          <a:p>
            <a:r>
              <a:rPr lang="en-US" dirty="0"/>
              <a:t>3.1 ETL Flow</a:t>
            </a: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02D184-BA5F-8806-FAD2-7F2C7CD2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3332"/>
            <a:ext cx="4114800" cy="365125"/>
          </a:xfrm>
        </p:spPr>
        <p:txBody>
          <a:bodyPr/>
          <a:lstStyle/>
          <a:p>
            <a:r>
              <a:rPr lang="en-US" dirty="0"/>
              <a:t>Upskill 2569, Module 2: Data Engineering </a:t>
            </a:r>
            <a:endParaRPr lang="th-T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1F69B-5863-C49D-530D-7E83ADAA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10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C26F1F-4BE8-9801-1F0A-6F4F0AE51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529" y="868212"/>
            <a:ext cx="9181981" cy="198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4F0D96-1DF5-7045-EBBA-A82195008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42" y="2926323"/>
            <a:ext cx="5132439" cy="35838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DFA7A7-6512-2B8F-8069-AD75A37A3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081" y="2926323"/>
            <a:ext cx="6608110" cy="35838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FCF909-7C56-6A12-1D93-A90097608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74" y="868212"/>
            <a:ext cx="2532796" cy="198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06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0E9D-00E2-0F81-5800-9A059B41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4429-502C-DF62-E286-DAA930D9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Agentic AI for Data Pipeline Automation </a:t>
            </a: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F3806-9386-D2E0-5698-7119C082B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11D30-A853-FDB3-A73C-32A7DDDF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11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ACAA7F-042D-7437-4D07-24A020781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17" y="1456506"/>
            <a:ext cx="8422788" cy="36955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C41EF-1F69-8539-CC59-7FDB23DB1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4810" y="1078925"/>
            <a:ext cx="2596069" cy="545998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B9DCA5D-85D1-5115-32E5-E3827AE20546}"/>
              </a:ext>
            </a:extLst>
          </p:cNvPr>
          <p:cNvSpPr/>
          <p:nvPr/>
        </p:nvSpPr>
        <p:spPr>
          <a:xfrm>
            <a:off x="8937522" y="3057833"/>
            <a:ext cx="442452" cy="5014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69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B9BFB-D74D-DB21-022E-2165B378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839DD-FF68-BD76-8386-664D0ED11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สรุปผลการดำเนินงาน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AA1F965-E203-2776-9081-FE7E39069F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050973"/>
              </p:ext>
            </p:extLst>
          </p:nvPr>
        </p:nvGraphicFramePr>
        <p:xfrm>
          <a:off x="838200" y="1825625"/>
          <a:ext cx="10515597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5848">
                  <a:extLst>
                    <a:ext uri="{9D8B030D-6E8A-4147-A177-3AD203B41FA5}">
                      <a16:colId xmlns:a16="http://schemas.microsoft.com/office/drawing/2014/main" val="4004519320"/>
                    </a:ext>
                  </a:extLst>
                </a:gridCol>
                <a:gridCol w="3654550">
                  <a:extLst>
                    <a:ext uri="{9D8B030D-6E8A-4147-A177-3AD203B41FA5}">
                      <a16:colId xmlns:a16="http://schemas.microsoft.com/office/drawing/2014/main" val="308702726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93667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รายละเอียดของงาน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ผลการดำเนินงาน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145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1. </a:t>
                      </a:r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Cleansing </a:t>
                      </a:r>
                      <a:endParaRPr lang="th-TH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 เทคนิค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ทำได้ </a:t>
                      </a:r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 </a:t>
                      </a:r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เทคนิค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36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2. Database Management</a:t>
                      </a:r>
                      <a:endParaRPr lang="th-TH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</a:t>
                      </a:r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MySQL : Fact=1, Dim=1</a:t>
                      </a:r>
                      <a:endParaRPr lang="th-TH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สามารถเชื่อมต่อและ </a:t>
                      </a:r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Query</a:t>
                      </a:r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ได้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473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3. </a:t>
                      </a:r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ETL flow </a:t>
                      </a:r>
                      <a:r>
                        <a:rPr lang="th-TH" sz="2800" b="1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และ </a:t>
                      </a:r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Agentic AI </a:t>
                      </a:r>
                      <a:endParaRPr lang="th-TH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DAG, Airflow, n8n</a:t>
                      </a:r>
                      <a:endParaRPr lang="th-TH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สามารถรันผ่านทุกขั้นตอนการ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16200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4DBCF-6188-6564-0C1E-BB5225EC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7B34A-FC91-64F5-4502-645D5AA3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42662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3A4F-9544-BA3B-B1A5-326DD0559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123" y="2589579"/>
            <a:ext cx="10515600" cy="1325563"/>
          </a:xfrm>
        </p:spPr>
        <p:txBody>
          <a:bodyPr/>
          <a:lstStyle/>
          <a:p>
            <a:pPr algn="ctr"/>
            <a:r>
              <a:rPr lang="th-TH" dirty="0"/>
              <a:t>คำถามและข้อเสนอแนะ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F0863-128E-F05C-E608-4B0BC4B57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ADC6C-32B4-6103-B365-1BE80287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pPr/>
              <a:t>13</a:t>
            </a:fld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86720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38CF-B147-AE18-C53B-06407A2B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898"/>
            <a:ext cx="10515600" cy="559107"/>
          </a:xfrm>
        </p:spPr>
        <p:txBody>
          <a:bodyPr>
            <a:normAutofit fontScale="90000"/>
          </a:bodyPr>
          <a:lstStyle/>
          <a:p>
            <a:r>
              <a:rPr lang="th-TH" dirty="0"/>
              <a:t>ภาพผล</a:t>
            </a:r>
            <a:r>
              <a:rPr lang="th-TH" dirty="0" err="1"/>
              <a:t>การทำ</a:t>
            </a:r>
            <a:r>
              <a:rPr lang="th-TH" dirty="0"/>
              <a:t>โครงงาน</a:t>
            </a:r>
            <a:r>
              <a:rPr lang="en-US" dirty="0"/>
              <a:t>/</a:t>
            </a:r>
            <a:r>
              <a:rPr lang="th-TH" dirty="0"/>
              <a:t>ผลการรัน </a:t>
            </a:r>
          </a:p>
        </p:txBody>
      </p:sp>
      <p:pic>
        <p:nvPicPr>
          <p:cNvPr id="6" name="etl_flow_&amp;_n8n">
            <a:hlinkClick r:id="" action="ppaction://media"/>
            <a:extLst>
              <a:ext uri="{FF2B5EF4-FFF2-40B4-BE49-F238E27FC236}">
                <a16:creationId xmlns:a16="http://schemas.microsoft.com/office/drawing/2014/main" id="{86FA9179-22FB-F490-1052-850AF464A36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909624"/>
            <a:ext cx="10400071" cy="553096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BF387-555F-E891-D145-E55F7082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C1ABA-1C28-1A49-FE68-00BB12FF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pPr/>
              <a:t>14</a:t>
            </a:fld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Rectangle: Beveled 10">
            <a:hlinkClick r:id="rId5"/>
            <a:extLst>
              <a:ext uri="{FF2B5EF4-FFF2-40B4-BE49-F238E27FC236}">
                <a16:creationId xmlns:a16="http://schemas.microsoft.com/office/drawing/2014/main" id="{91957DAF-CD6B-786F-9549-F299D8249606}"/>
              </a:ext>
            </a:extLst>
          </p:cNvPr>
          <p:cNvSpPr/>
          <p:nvPr/>
        </p:nvSpPr>
        <p:spPr>
          <a:xfrm>
            <a:off x="8590935" y="272654"/>
            <a:ext cx="897194" cy="457596"/>
          </a:xfrm>
          <a:prstGeom prst="bevel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94936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89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D9511-0958-2AD7-7127-3DA99F2D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4286-0351-893D-E451-F974C686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123" y="258957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Backup/ Results</a:t>
            </a:r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128E2-A258-B240-C377-23D95D20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Upskill 2569, Module 2: Data Engineering </a:t>
            </a:r>
            <a:endParaRPr lang="th-TH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2D9F2-932F-7C60-5A83-4725DCEC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6CBF-6DB6-4955-8C17-A3B30D694B09}" type="slidenum">
              <a:rPr lang="th-TH" smtClean="0"/>
              <a:pPr/>
              <a:t>15</a:t>
            </a:fld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9216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546</Words>
  <Application>Microsoft Office PowerPoint</Application>
  <PresentationFormat>Widescreen</PresentationFormat>
  <Paragraphs>82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TH Sarabun New</vt:lpstr>
      <vt:lpstr>Angsana New</vt:lpstr>
      <vt:lpstr>AngsanaUPC</vt:lpstr>
      <vt:lpstr>Arial</vt:lpstr>
      <vt:lpstr>Aptos Display</vt:lpstr>
      <vt:lpstr>Office Theme</vt:lpstr>
      <vt:lpstr>การจัดการข้อมูล World Bank Commodity Pricesเพื่อ ติดตามความเคลื่อนไหวของราคาสินค้าโภคภัณฑ์</vt:lpstr>
      <vt:lpstr>Outline</vt:lpstr>
      <vt:lpstr>ความสำคัญและที่มาของโครงงาน</vt:lpstr>
      <vt:lpstr>ภาพรวมของโครงงาน</vt:lpstr>
      <vt:lpstr>1.1 Data Cleansing [1] raw data</vt:lpstr>
      <vt:lpstr>1.1 Data Cleansing [2]</vt:lpstr>
      <vt:lpstr>1.2 Data Integration/Transformation/Visualization</vt:lpstr>
      <vt:lpstr>2.1 Database Management</vt:lpstr>
      <vt:lpstr>2.2 Database Query</vt:lpstr>
      <vt:lpstr>3.1 ETL Flow</vt:lpstr>
      <vt:lpstr>3.2 Agentic AI for Data Pipeline Automation </vt:lpstr>
      <vt:lpstr>สรุปผลการดำเนินงาน</vt:lpstr>
      <vt:lpstr>คำถามและข้อเสนอแนะ</vt:lpstr>
      <vt:lpstr>ภาพผลการทำโครงงาน/ผลการรัน </vt:lpstr>
      <vt:lpstr>Backup/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Petcharat Suriyachai (เพ็ชรัตน์ สุริยะไชย)</dc:creator>
  <cp:lastModifiedBy>KITISAK JUNSONGSANG</cp:lastModifiedBy>
  <cp:revision>25</cp:revision>
  <dcterms:created xsi:type="dcterms:W3CDTF">2026-08-29T08:03:21Z</dcterms:created>
  <dcterms:modified xsi:type="dcterms:W3CDTF">2026-09-05T10:43:05Z</dcterms:modified>
</cp:coreProperties>
</file>